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201168" cy="21031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Calibri"/>
              </a:rPr>
              <a:t>SPIFFE / SPIRE · mTLS · GitOps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A1F2B"/>
                </a:solidFill>
                <a:latin typeface="Calibri"/>
              </a:rPr>
              <a:t>Zero-Trust mTLS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1A1F2B"/>
                </a:solidFill>
                <a:latin typeface="Calibri"/>
              </a:rPr>
              <a:t>pour microservices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280"/>
                </a:solidFill>
                <a:latin typeface="Calibri"/>
              </a:rPr>
              <a:t>Chaque service prouve son identité avant de parler à un autre.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6B7280"/>
                </a:solidFill>
                <a:latin typeface="Calibri"/>
              </a:rPr>
              <a:t>Aucun secret partagé.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Le réseau ne suffit 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B"/>
                </a:solidFill>
                <a:latin typeface="Calibri"/>
              </a:rPr>
              <a:t>Dans un cluster, un service peut en joindre un autre par le réseau.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1A1F2B"/>
                </a:solidFill>
                <a:latin typeface="Calibri"/>
              </a:rPr>
              <a:t>Mais le réseau ne prouve pas QUI appelle.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23774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Catalog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compromis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08960"/>
            <a:ext cx="84908" cy="91440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3108960"/>
            <a:ext cx="23774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Payments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sensible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3108960"/>
            <a:ext cx="84908" cy="91440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291840" y="3566160"/>
            <a:ext cx="4663439" cy="0"/>
          </a:xfrm>
          <a:prstGeom prst="line">
            <a:avLst/>
          </a:prstGeom>
          <a:ln w="22225">
            <a:solidFill>
              <a:srgbClr val="D93A3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983479" y="33101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D93A3A"/>
                </a:solidFill>
                <a:latin typeface="Calibri"/>
              </a:rPr>
              <a:t>peut joindre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Calibri"/>
              </a:rPr>
              <a:t>Si un attaquant compromet Catalog, rien au niveau réseau ne l'empêche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6B7280"/>
                </a:solidFill>
                <a:latin typeface="Calibri"/>
              </a:rPr>
              <a:t>d'atteindre Payments. Il faut une identité applicative vérifiable.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L'APPLICATION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Une mini-boutique, 5 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10312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Gateway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porte d'entrée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75111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07792" y="2286000"/>
            <a:ext cx="210312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Orders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commandes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07792" y="2286000"/>
            <a:ext cx="75111" cy="10972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75504" y="2286000"/>
            <a:ext cx="210312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Catalog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produits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75504" y="2286000"/>
            <a:ext cx="75111" cy="1097280"/>
          </a:xfrm>
          <a:prstGeom prst="rect">
            <a:avLst/>
          </a:prstGeom>
          <a:solidFill>
            <a:srgbClr val="1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43216" y="2286000"/>
            <a:ext cx="210312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Payments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paiements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43216" y="2286000"/>
            <a:ext cx="75111" cy="109728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10928" y="2286000"/>
            <a:ext cx="210312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Analytics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Node.js / Envoy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10928" y="2286000"/>
            <a:ext cx="75111" cy="109728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A1F2B"/>
                </a:solidFill>
                <a:latin typeface="Calibri"/>
              </a:rPr>
              <a:t>Règle sensible 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10881360" cy="8686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Seul Orders peut déclencher un paiement.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Gateway orchestre, Catalog expose — mais aucun ne peut appeler /pay directement.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34840"/>
            <a:ext cx="388620" cy="868680"/>
          </a:xfrm>
          <a:prstGeom prst="rect">
            <a:avLst/>
          </a:prstGeom>
          <a:solidFill>
            <a:srgbClr val="1FA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IDENTITÉ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SPIRE attribue une identité cryptographique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23774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SPIRE Server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autorité / CA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84908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23774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SPIRE Agent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DaemonSet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011680" y="3108960"/>
            <a:ext cx="0" cy="548640"/>
          </a:xfrm>
          <a:prstGeom prst="line">
            <a:avLst/>
          </a:prstGeom>
          <a:ln w="22225">
            <a:solidFill>
              <a:srgbClr val="2F6F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371600" y="312724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2F6FED"/>
                </a:solidFill>
                <a:latin typeface="Calibri"/>
              </a:rPr>
              <a:t>atteste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2194560"/>
            <a:ext cx="2194560" cy="8229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gateway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3200400" y="2606040"/>
            <a:ext cx="1645920" cy="150876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846320" y="3200400"/>
            <a:ext cx="2194560" cy="8229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orders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200400" y="3611880"/>
            <a:ext cx="1645920" cy="50292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46320" y="4206240"/>
            <a:ext cx="2194560" cy="8229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payments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0400" y="4114800"/>
            <a:ext cx="1645920" cy="50292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22860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A1F2B"/>
                </a:solidFill>
                <a:latin typeface="Calibri"/>
              </a:rPr>
              <a:t>SVID X.509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834640"/>
            <a:ext cx="4023360" cy="13716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spiffe://example.org/
ns/shop/sa/orders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identité courte durée, rotative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834640"/>
            <a:ext cx="143691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L'identité dérive du ServiceAccount Kubernetes. L'Agent ne distribue un SVID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qu'après avoir attesté le nœud (PSAT) et le workload.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LE CŒUR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mTLS transporte l'identité, le code l'autorise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286000" cy="10058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Orders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81642" cy="10058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52560" y="2377440"/>
            <a:ext cx="2286000" cy="10058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2377440"/>
            <a:ext cx="81642" cy="1005840"/>
          </a:xfrm>
          <a:prstGeom prst="rect">
            <a:avLst/>
          </a:prstGeom>
          <a:solidFill>
            <a:srgbClr val="D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017520" y="2880360"/>
            <a:ext cx="6035040" cy="0"/>
          </a:xfrm>
          <a:prstGeom prst="line">
            <a:avLst/>
          </a:prstGeom>
          <a:ln w="22225">
            <a:solidFill>
              <a:srgbClr val="1FA9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94960" y="26243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FA955"/>
                </a:solidFill>
                <a:latin typeface="Calibri"/>
              </a:rPr>
              <a:t>mTLS  ·  /pay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2004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Calibri"/>
              </a:rPr>
              <a:t>présente son SVID — Payments lit l'identité dans le certificat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4114800"/>
            <a:ext cx="6309360" cy="15544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var policy = map[string][]string{
    "/pay": {ordersID},
}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Payments : seule l'identité Orders est autorisée sur /pay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4114800"/>
            <a:ext cx="225334" cy="1554480"/>
          </a:xfrm>
          <a:prstGeom prst="rect">
            <a:avLst/>
          </a:prstGeom>
          <a:solidFill>
            <a:srgbClr val="1FA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A1F2B"/>
                </a:solidFill>
                <a:latin typeface="Calibri"/>
              </a:rPr>
              <a:t>Authentifié ≠ autorisé : être dans le trust domain ne suffit pas, il faut être dans la liste de la route.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Autorisé vs refusé, en direct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98480" cy="868680"/>
          </a:xfrm>
          <a:prstGeom prst="roundRect">
            <a:avLst/>
          </a:prstGeom>
          <a:solidFill>
            <a:srgbClr val="ECF8F0"/>
          </a:solidFill>
          <a:ln w="12700">
            <a:solidFill>
              <a:srgbClr val="1FA9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A955"/>
                </a:solidFill>
                <a:latin typeface="Calibri"/>
              </a:rPr>
              <a:t>Gateway → Orders → Payments     ✓ autorisé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FCEDED"/>
          </a:solidFill>
          <a:ln w="12700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93A3A"/>
                </a:solidFill>
                <a:latin typeface="Calibri"/>
              </a:rPr>
              <a:t>Gateway → Payments /pay     ✗ refusé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10698480" cy="868680"/>
          </a:xfrm>
          <a:prstGeom prst="roundRect">
            <a:avLst/>
          </a:prstGeom>
          <a:solidFill>
            <a:srgbClr val="FCEDED"/>
          </a:solidFill>
          <a:ln w="12700">
            <a:solidFill>
              <a:srgbClr val="D9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93A3A"/>
                </a:solidFill>
                <a:latin typeface="Calibri"/>
              </a:rPr>
              <a:t>Catalog → Payments /pay     ✗ refusé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Calibri"/>
              </a:rPr>
              <a:t>Même cluster, même réseau. Seule l'identité change la décision.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MULTI-LANGAGE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Analytics (Node.js) délègue le mTLS à Envoy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194560" cy="100584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78377" cy="100584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54880" y="2194560"/>
            <a:ext cx="5943600" cy="2194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651760"/>
            <a:ext cx="219456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Envoy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SDS · mTLS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651760"/>
            <a:ext cx="78377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79" y="2651760"/>
            <a:ext cx="237744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Analytics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Node.js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2651760"/>
            <a:ext cx="84908" cy="9144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2926080" y="3108960"/>
            <a:ext cx="2194560" cy="137160"/>
          </a:xfrm>
          <a:prstGeom prst="line">
            <a:avLst/>
          </a:prstGeom>
          <a:ln w="22225">
            <a:solidFill>
              <a:srgbClr val="1FA9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3280" y="292150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FA955"/>
                </a:solidFill>
                <a:latin typeface="Calibri"/>
              </a:rPr>
              <a:t>mTLS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3108960"/>
            <a:ext cx="640079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95159" y="2852928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HTTP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Envoy récupère le SVID via SDS auprès de l'Agent, termine le mTLS, et transmet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l'identité vérifiée à l'app. Même sécurité sans réécrire SPIFFE dans chaque langage.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PLATEFORME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Infra reproductible : Terraform → Ansible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46888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Terraform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serveur Hetzner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88174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2743200"/>
            <a:ext cx="246888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Ansible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k3s · SPIRE · ArgoCD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743200"/>
            <a:ext cx="88174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0" y="2743200"/>
            <a:ext cx="246888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k3s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cluster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2743200"/>
            <a:ext cx="88174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0" y="2743200"/>
            <a:ext cx="2468880" cy="109728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ArgoCD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GitOps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43200"/>
            <a:ext cx="88174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200400" y="3291840"/>
            <a:ext cx="4572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26480" y="3291840"/>
            <a:ext cx="4572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86800" y="3291840"/>
            <a:ext cx="457200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43891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Terraform crée le serveur (state dans Terraform Cloud). Ansible installe tout.</a:t>
            </a: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ArgoCD réconcilie le cluster depuis Git — modèle pull, rien n'entre de l'extérieur.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LIVRAISON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Pipeline sécurisée + GitOps versionné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push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52904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984248" y="2926080"/>
            <a:ext cx="118872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30552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lint · SAST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2468880"/>
            <a:ext cx="52904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611880" y="2926080"/>
            <a:ext cx="118872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58184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Trivy (CVE)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8184" y="2468880"/>
            <a:ext cx="52904" cy="914400"/>
          </a:xfrm>
          <a:prstGeom prst="rect">
            <a:avLst/>
          </a:prstGeom>
          <a:solidFill>
            <a:srgbClr val="1FA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5239512" y="2926080"/>
            <a:ext cx="118872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385816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Cosign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85816" y="2468880"/>
            <a:ext cx="52904" cy="914400"/>
          </a:xfrm>
          <a:prstGeom prst="rect">
            <a:avLst/>
          </a:prstGeom>
          <a:solidFill>
            <a:srgbClr val="1FA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867144" y="2926080"/>
            <a:ext cx="118872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13448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GHCR @sha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13448" y="2468880"/>
            <a:ext cx="52904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8494776" y="2926080"/>
            <a:ext cx="118872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41080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deploy/prod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2468880"/>
            <a:ext cx="52904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0122408" y="2926080"/>
            <a:ext cx="118872" cy="0"/>
          </a:xfrm>
          <a:prstGeom prst="line">
            <a:avLst/>
          </a:prstGeom>
          <a:ln w="22225">
            <a:solidFill>
              <a:srgbClr val="6B72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268712" y="2468880"/>
            <a:ext cx="1481328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ArgoCD sync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68712" y="2468880"/>
            <a:ext cx="52904" cy="9144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10698480" cy="91440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ArgoCD surveille deploy/prod, pas main.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Les manifests y portent l'image épinglée au SHA du commit. Git = source de vérité, rollback = revert.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023360"/>
            <a:ext cx="382088" cy="914400"/>
          </a:xfrm>
          <a:prstGeom prst="rect">
            <a:avLst/>
          </a:prstGeom>
          <a:solidFill>
            <a:srgbClr val="1FA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Une CVE haute non corrigée casse le build. Pas de tag latest en prod.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2F6FED"/>
                </a:solidFill>
                <a:latin typeface="Calibri"/>
              </a:rPr>
              <a:t>OBSERVABILITÉ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F2B"/>
                </a:solidFill>
                <a:latin typeface="Calibri"/>
              </a:rPr>
              <a:t>Prometheus + Grafana : qui, quoi, refusé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560320" cy="12801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SVID émis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rotation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91440" cy="12801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560320"/>
            <a:ext cx="2560320" cy="12801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Trafic HTTP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par service / route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560320"/>
            <a:ext cx="91440" cy="128016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2560320"/>
            <a:ext cx="2560320" cy="12801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Décisions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allowed / denied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91440" cy="1280160"/>
          </a:xfrm>
          <a:prstGeom prst="rect">
            <a:avLst/>
          </a:prstGeom>
          <a:solidFill>
            <a:srgbClr val="1FA9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61120" y="2560320"/>
            <a:ext cx="2560320" cy="1280160"/>
          </a:xfrm>
          <a:prstGeom prst="roundRect">
            <a:avLst/>
          </a:prstGeom>
          <a:solidFill>
            <a:srgbClr val="F2F4F8"/>
          </a:solidFill>
          <a:ln w="12700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/>
            <a:r>
              <a:rPr sz="1500" b="1">
                <a:solidFill>
                  <a:srgbClr val="1A1F2B"/>
                </a:solidFill>
                <a:latin typeface="Calibri"/>
              </a:rPr>
              <a:t>Analytics</a:t>
            </a:r>
          </a:p>
          <a:p>
            <a:pPr algn="ctr"/>
            <a:r>
              <a:rPr sz="1000">
                <a:solidFill>
                  <a:srgbClr val="6B7280"/>
                </a:solidFill>
                <a:latin typeface="Calibri"/>
              </a:rPr>
              <a:t>via Envoy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2560320"/>
            <a:ext cx="91440" cy="12801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1F2B"/>
                </a:solidFill>
                <a:latin typeface="Calibri"/>
              </a:rPr>
              <a:t>Le projet ne montre pas seulement que les appels fonctionnent.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A1F2B"/>
                </a:solidFill>
                <a:latin typeface="Calibri"/>
              </a:rPr>
              <a:t>Il montre qui appelle, qui est autorisé, ce qui est refusé — et le rend observable.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201168" cy="24688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F6FED"/>
                </a:solidFill>
                <a:latin typeface="Calibri"/>
              </a:rPr>
              <a:t>En une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A1F2B"/>
                </a:solidFill>
                <a:latin typeface="Calibri"/>
              </a:rPr>
              <a:t>Des services qui se font confiance sans secret partagé :</a:t>
            </a:r>
          </a:p>
          <a:p>
            <a:pPr algn="l">
              <a:lnSpc>
                <a:spcPct val="110000"/>
              </a:lnSpc>
            </a:pPr>
            <a:r>
              <a:rPr sz="2600" b="1">
                <a:solidFill>
                  <a:srgbClr val="1A1F2B"/>
                </a:solidFill>
                <a:latin typeface="Calibri"/>
              </a:rPr>
              <a:t>des identités attestées, vérifiées en mTLS, autorisées par route,</a:t>
            </a:r>
          </a:p>
          <a:p>
            <a:pPr algn="l">
              <a:lnSpc>
                <a:spcPct val="110000"/>
              </a:lnSpc>
            </a:pPr>
            <a:r>
              <a:rPr sz="2600" b="1">
                <a:solidFill>
                  <a:srgbClr val="1A1F2B"/>
                </a:solidFill>
                <a:latin typeface="Calibri"/>
              </a:rPr>
              <a:t>déployées en GitOps et observables.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Calibri"/>
              </a:rPr>
              <a:t>SPIFFE/SPIRE · Go + Envoy · Terraform/Ansible · ArgoCD · Prometheus/Grafana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